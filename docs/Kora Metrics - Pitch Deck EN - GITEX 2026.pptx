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8" d="100"/>
          <a:sy n="158" d="100"/>
        </p:scale>
        <p:origin x="4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74827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jpeg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78A53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548640"/>
            <a:ext cx="20116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64592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Accounting for Africa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640080" y="28346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AI-driven Accounting &amp; Tax Automation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SYSCOHADA · Senegal &amp; OHADA Zone (17 countries)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40080" y="3840480"/>
            <a:ext cx="1371600" cy="45720"/>
          </a:xfrm>
          <a:prstGeom prst="rect">
            <a:avLst/>
          </a:prstGeom>
          <a:solidFill>
            <a:srgbClr val="E78A53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4114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GITEX AFRICA 2026 · Marrakech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48920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www.korametrics.com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78A5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8A5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of African accountants' time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spent on manual data entry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3749040" cy="11430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011680"/>
            <a:ext cx="54864" cy="1143000"/>
          </a:xfrm>
          <a:prstGeom prst="rect">
            <a:avLst/>
          </a:prstGeom>
          <a:solidFill>
            <a:srgbClr val="E78A53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28600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2148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manual entry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371600" y="25146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Hundreds of invoices processed by hand every month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2011680"/>
            <a:ext cx="3749040" cy="11430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2011680"/>
            <a:ext cx="54864" cy="114300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228600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86400" y="2148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Costly tax errors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486400" y="25146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Tax penalties, permanent non-compliance risks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40080" y="3383280"/>
            <a:ext cx="3749040" cy="11430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0080" y="3383280"/>
            <a:ext cx="54864" cy="114300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65760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71600" y="3520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to scale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371600" y="38862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Growth capped by manually processable volume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754880" y="3383280"/>
            <a:ext cx="3749040" cy="11430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754880" y="3383280"/>
            <a:ext cx="54864" cy="114300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365760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86400" y="3520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Inadequate tools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486400" y="38862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Sage, Cegid, Excel: no local tax automation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78A5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8A5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Kora Metrics Solution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Humans always decide. AI proposes, the professional validates.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2560320" cy="29260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63040"/>
            <a:ext cx="2560320" cy="54864"/>
          </a:xfrm>
          <a:prstGeom prst="rect">
            <a:avLst/>
          </a:prstGeom>
          <a:solidFill>
            <a:srgbClr val="E78A53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7373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78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0" y="173736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23774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Digitization &amp; Extraction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" y="30175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Upload invoices (PDF, scans, photos).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automatically extracts all data.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474720" y="1463040"/>
            <a:ext cx="2560320" cy="29260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74720" y="1463040"/>
            <a:ext cx="256032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0"/>
          <p:cNvSpPr/>
          <p:nvPr/>
        </p:nvSpPr>
        <p:spPr>
          <a:xfrm>
            <a:off x="3657600" y="17373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0" y="173736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657600" y="23774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Tax Analysis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657600" y="30175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SYSCOHADA allocation, tax identification,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real-time anomaly detection.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309360" y="1463040"/>
            <a:ext cx="2560320" cy="29260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309360" y="1463040"/>
            <a:ext cx="256032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5"/>
          <p:cNvSpPr/>
          <p:nvPr/>
        </p:nvSpPr>
        <p:spPr>
          <a:xfrm>
            <a:off x="6492240" y="17373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0" y="1737360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492240" y="23774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Ready-made Declarations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492240" y="30175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Auto-generate VAT, CIT, withholdings.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Professional validates and submits.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3291840" y="25603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78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Text 19"/>
          <p:cNvSpPr/>
          <p:nvPr/>
        </p:nvSpPr>
        <p:spPr>
          <a:xfrm>
            <a:off x="6126480" y="25603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78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78A5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8A5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Why Now?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7863840" cy="7772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097280"/>
            <a:ext cx="54864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" y="1234440"/>
            <a:ext cx="502920" cy="50292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1298448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17043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Digitalization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691640" y="148132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Senegal accelerating electronic tax declarations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0080" y="2057400"/>
            <a:ext cx="7863840" cy="7772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0080" y="2057400"/>
            <a:ext cx="54864" cy="777240"/>
          </a:xfrm>
          <a:prstGeom prst="rect">
            <a:avLst/>
          </a:prstGeom>
          <a:solidFill>
            <a:srgbClr val="E78A53"/>
          </a:solidFill>
          <a:ln/>
        </p:spPr>
      </p:sp>
      <p:sp>
        <p:nvSpPr>
          <p:cNvPr id="12" name="Shape 9"/>
          <p:cNvSpPr/>
          <p:nvPr/>
        </p:nvSpPr>
        <p:spPr>
          <a:xfrm>
            <a:off x="960120" y="2194560"/>
            <a:ext cx="502920" cy="50292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" y="2258568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91640" y="213055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Revolution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1691640" y="244144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LLMs finally enable document analysis at scale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40080" y="3017520"/>
            <a:ext cx="7863840" cy="7772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080" y="3017520"/>
            <a:ext cx="54864" cy="7772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Shape 14"/>
          <p:cNvSpPr/>
          <p:nvPr/>
        </p:nvSpPr>
        <p:spPr>
          <a:xfrm>
            <a:off x="960120" y="3154680"/>
            <a:ext cx="502920" cy="50292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272" y="3218688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91640" y="309067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Generation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691640" y="340156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Digital-native accountants seeking modern tools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640080" y="3977640"/>
            <a:ext cx="7863840" cy="7772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40080" y="3977640"/>
            <a:ext cx="54864" cy="777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Shape 19"/>
          <p:cNvSpPr/>
          <p:nvPr/>
        </p:nvSpPr>
        <p:spPr>
          <a:xfrm>
            <a:off x="960120" y="4114800"/>
            <a:ext cx="502920" cy="50292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3272" y="4178808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691640" y="405079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Void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1691640" y="436168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Zero competitors on OCR → SYSCOHADA → Local declarations chain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78A5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8A5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Traction &amp; Proof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1828800" cy="16459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005840"/>
            <a:ext cx="1828800" cy="54864"/>
          </a:xfrm>
          <a:prstGeom prst="rect">
            <a:avLst/>
          </a:prstGeom>
          <a:solidFill>
            <a:srgbClr val="E78A5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887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78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70-80%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time savings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proven on MVP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97480" y="1005840"/>
            <a:ext cx="1828800" cy="16459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697480" y="1005840"/>
            <a:ext cx="18288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2697480" y="11887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697480" y="19202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functional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modules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005840"/>
            <a:ext cx="1828800" cy="16459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005840"/>
            <a:ext cx="18288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1887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754880" y="19202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committed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accounting firms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12280" y="1005840"/>
            <a:ext cx="1828800" cy="16459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12280" y="1005840"/>
            <a:ext cx="182880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6812280" y="11887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812280" y="19202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addressable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OHADA countries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4400" y="3063240"/>
            <a:ext cx="109728" cy="109728"/>
          </a:xfrm>
          <a:prstGeom prst="ellipse">
            <a:avLst/>
          </a:prstGeom>
          <a:solidFill>
            <a:srgbClr val="E78A53"/>
          </a:solidFill>
          <a:ln/>
        </p:spPr>
      </p:sp>
      <p:sp>
        <p:nvSpPr>
          <p:cNvPr id="21" name="Text 19"/>
          <p:cNvSpPr/>
          <p:nvPr/>
        </p:nvSpPr>
        <p:spPr>
          <a:xfrm>
            <a:off x="1188720" y="29260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MVP finalized — Beta test with SENCAS (Dakar) starting April 2026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14400" y="3566160"/>
            <a:ext cx="109728" cy="109728"/>
          </a:xfrm>
          <a:prstGeom prst="ellipse">
            <a:avLst/>
          </a:prstGeom>
          <a:solidFill>
            <a:srgbClr val="E78A53"/>
          </a:solidFill>
          <a:ln/>
        </p:spPr>
      </p:sp>
      <p:sp>
        <p:nvSpPr>
          <p:cNvPr id="23" name="Text 21"/>
          <p:cNvSpPr/>
          <p:nvPr/>
        </p:nvSpPr>
        <p:spPr>
          <a:xfrm>
            <a:off x="1188720" y="3429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 additional firms committed in Benin and Ivory Coast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14400" y="4069080"/>
            <a:ext cx="109728" cy="109728"/>
          </a:xfrm>
          <a:prstGeom prst="ellipse">
            <a:avLst/>
          </a:prstGeom>
          <a:solidFill>
            <a:srgbClr val="E78A53"/>
          </a:solidFill>
          <a:ln/>
        </p:spPr>
      </p:sp>
      <p:sp>
        <p:nvSpPr>
          <p:cNvPr id="25" name="Text 23"/>
          <p:cNvSpPr/>
          <p:nvPr/>
        </p:nvSpPr>
        <p:spPr>
          <a:xfrm>
            <a:off x="1188720" y="39319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Modules: OCR+Tax, Bank reconciliation, VAT, Payroll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78A5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8A5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Business Model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B2B SaaS Subscription · Recurring Revenue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2560320" cy="30175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371600"/>
            <a:ext cx="2560320" cy="54864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54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25,000 XOF/mo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" y="2468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~€38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05840" y="2880360"/>
            <a:ext cx="1828800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0175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Small firms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1-3 employees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74720" y="1371600"/>
            <a:ext cx="2560320" cy="30175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74720" y="1371600"/>
            <a:ext cx="2560320" cy="54864"/>
          </a:xfrm>
          <a:prstGeom prst="rect">
            <a:avLst/>
          </a:prstGeom>
          <a:solidFill>
            <a:srgbClr val="E78A53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0" y="1554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474720" y="2011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78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75,000 XOF/mo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474720" y="2468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~€114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840480" y="2880360"/>
            <a:ext cx="1828800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8" name="Text 16"/>
          <p:cNvSpPr/>
          <p:nvPr/>
        </p:nvSpPr>
        <p:spPr>
          <a:xfrm>
            <a:off x="3474720" y="30175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Structured firms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Advanced modules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09360" y="1371600"/>
            <a:ext cx="2560320" cy="30175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09360" y="1371600"/>
            <a:ext cx="256032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1554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309360" y="2011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180,000+ XOF/mo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309360" y="2468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~€274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675120" y="2880360"/>
            <a:ext cx="1828800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5" name="Text 23"/>
          <p:cNvSpPr/>
          <p:nvPr/>
        </p:nvSpPr>
        <p:spPr>
          <a:xfrm>
            <a:off x="6309360" y="30175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Large firms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Customization + API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78A5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8A5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Market &amp; Opportunity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7863840" cy="10972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097280"/>
            <a:ext cx="54864" cy="10972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1887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103120" y="123444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17 OHADA countries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Tens of thousands of firms &amp; SMEs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371600" y="2423160"/>
            <a:ext cx="6400800" cy="10972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371600" y="2423160"/>
            <a:ext cx="54864" cy="1097280"/>
          </a:xfrm>
          <a:prstGeom prst="rect">
            <a:avLst/>
          </a:prstGeom>
          <a:solidFill>
            <a:srgbClr val="E78A53"/>
          </a:solidFill>
          <a:ln/>
        </p:spPr>
      </p:sp>
      <p:sp>
        <p:nvSpPr>
          <p:cNvPr id="10" name="Text 8"/>
          <p:cNvSpPr/>
          <p:nvPr/>
        </p:nvSpPr>
        <p:spPr>
          <a:xfrm>
            <a:off x="1737360" y="25146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78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834640" y="256032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Senegal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300+ accounting firms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103120" y="3749040"/>
            <a:ext cx="5029200" cy="10972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103120" y="3749040"/>
            <a:ext cx="54864" cy="10972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2468880" y="38404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566160" y="38862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50 clients · Year 1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150 clients · Year 3</a:t>
            </a:r>
            <a:endParaRPr lang="en-US" sz="1400" dirty="0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F62D70D7-900D-540D-DCBE-24FC0F22B41E}"/>
              </a:ext>
            </a:extLst>
          </p:cNvPr>
          <p:cNvSpPr/>
          <p:nvPr/>
        </p:nvSpPr>
        <p:spPr>
          <a:xfrm>
            <a:off x="7406640" y="4320540"/>
            <a:ext cx="16527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bg2">
                    <a:lumMod val="90000"/>
                  </a:scheme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Note : 1 accounting firm manages minimum 10 companies. We bill per company</a:t>
            </a:r>
            <a:endParaRPr lang="en-US" sz="1200" i="1" dirty="0">
              <a:solidFill>
                <a:schemeClr val="bg2">
                  <a:lumMod val="90000"/>
                </a:schemeClr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78A5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8A5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Competition &amp; Differentiation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786384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212848" y="100584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Excel/Manual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785616" y="100584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358384" y="100584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Cegid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931152" y="100584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78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Kora Metrics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508760"/>
            <a:ext cx="7863840" cy="5029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1508760"/>
            <a:ext cx="143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Invoice OCR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12848" y="150876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785616" y="150876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58384" y="150876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931152" y="150876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2011680"/>
            <a:ext cx="786384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2011680"/>
            <a:ext cx="143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SYSCOHADA Analysis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212848" y="201168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785616" y="201168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358384" y="201168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931152" y="201168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40080" y="2514600"/>
            <a:ext cx="7863840" cy="5029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2514600"/>
            <a:ext cx="143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Local Tax Declarations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212848" y="251460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785616" y="251460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358384" y="251460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931152" y="251460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0080" y="3017520"/>
            <a:ext cx="786384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3017520"/>
            <a:ext cx="143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Native AI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212848" y="301752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785616" y="301752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358384" y="301752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931152" y="301752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0080" y="3520440"/>
            <a:ext cx="7863840" cy="5029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5" name="Text 33"/>
          <p:cNvSpPr/>
          <p:nvPr/>
        </p:nvSpPr>
        <p:spPr>
          <a:xfrm>
            <a:off x="777240" y="3520440"/>
            <a:ext cx="143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Multi-country OHADA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212848" y="352044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3785616" y="352044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358384" y="352044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931152" y="352044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40080" y="4023360"/>
            <a:ext cx="786384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1" name="Text 39"/>
          <p:cNvSpPr/>
          <p:nvPr/>
        </p:nvSpPr>
        <p:spPr>
          <a:xfrm>
            <a:off x="777240" y="4023360"/>
            <a:ext cx="143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Africa-adapted Pricing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212848" y="402336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3785616" y="402336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358384" y="402336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931152" y="402336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931152" y="1005840"/>
            <a:ext cx="1572768" cy="3520440"/>
          </a:xfrm>
          <a:prstGeom prst="rect">
            <a:avLst/>
          </a:prstGeom>
          <a:noFill/>
          <a:ln w="25400">
            <a:solidFill>
              <a:srgbClr val="E78A53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78A5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8A5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Go-to-Market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2560320" cy="22860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005840"/>
            <a:ext cx="2560320" cy="54864"/>
          </a:xfrm>
          <a:prstGeom prst="rect">
            <a:avLst/>
          </a:prstGeom>
          <a:solidFill>
            <a:srgbClr val="E78A5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88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78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M1-3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sales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validation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1-3 paying clients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SENCAS beta test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0" y="1005840"/>
            <a:ext cx="2560320" cy="22860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0" y="1005840"/>
            <a:ext cx="256032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188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M4-6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74720" y="15544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74720" y="22860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10-15 clients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Client testimonials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1005840"/>
            <a:ext cx="2560320" cy="22860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09360" y="1005840"/>
            <a:ext cx="256032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1188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M7-12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09360" y="15544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expansion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09360" y="22860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50+ clients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 OHADA countries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91840" y="18288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78A53"/>
                </a:solidFill>
              </a:rPr>
              <a:t>→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126480" y="18288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78A53"/>
                </a:solidFill>
              </a:rPr>
              <a:t>→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40080" y="35661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Channels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3977640"/>
            <a:ext cx="192024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977640"/>
            <a:ext cx="19202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WhatsApp (zero cost)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0" y="3977640"/>
            <a:ext cx="192024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0" y="3977640"/>
            <a:ext cx="19202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LinkedIn thought leadership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0" y="3977640"/>
            <a:ext cx="192024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3977640"/>
            <a:ext cx="19202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Institutional partnerships (OEC, ADEPME)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949440" y="3977640"/>
            <a:ext cx="192024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27"/>
          <p:cNvSpPr/>
          <p:nvPr/>
        </p:nvSpPr>
        <p:spPr>
          <a:xfrm>
            <a:off x="6949440" y="3977640"/>
            <a:ext cx="19202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Video content &amp; demos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78A5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8A5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Team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66 years combined experience · Finance, Tax, Technology &amp; Law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965960" cy="34747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77240" y="1417320"/>
            <a:ext cx="1325880" cy="1325880"/>
          </a:xfrm>
          <a:prstGeom prst="ellipse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8803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Sédar H. Senghor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32004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78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352044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16y · Finance, Strategy,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Accounting &amp; Tax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École de Guerre Économique Paris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606040" y="1188720"/>
            <a:ext cx="1965960" cy="34747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926080" y="1417320"/>
            <a:ext cx="1325880" cy="1325880"/>
          </a:xfrm>
          <a:prstGeom prst="ellipse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606040" y="28803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Medoune Ndiaye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2606040" y="32004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78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2697480" y="352044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15y · Solutions Architecture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&amp; AI · Ex-Microsoft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ERP deployments Africa &amp; ME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4754880" y="1188720"/>
            <a:ext cx="1965960" cy="34747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074920" y="1417320"/>
            <a:ext cx="1325880" cy="1325880"/>
          </a:xfrm>
          <a:prstGeom prst="ellipse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754880" y="28803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Cheikh A.T. Diouf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4754880" y="32004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78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Director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4846320" y="352044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15y · Tax law specialist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Former firm tax director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Tax automation expert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6903720" y="1188720"/>
            <a:ext cx="1965960" cy="34747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223760" y="1417320"/>
            <a:ext cx="1325880" cy="1325880"/>
          </a:xfrm>
          <a:prstGeom prst="ellipse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03720" y="28803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Alassane Boye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6903720" y="32004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78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Dir.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6995160" y="352044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20y · Business law, Tax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Consulting &amp; Management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Legal &amp; tax firm leadership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78A5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8A5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Roadmap &amp; Funding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3657600" cy="9144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005840"/>
            <a:ext cx="3657600" cy="54864"/>
          </a:xfrm>
          <a:prstGeom prst="rect">
            <a:avLst/>
          </a:prstGeom>
          <a:solidFill>
            <a:srgbClr val="E78A5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143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Pre-seed Raise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14173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78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300 000 €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017520" y="14630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2-year runway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148840"/>
            <a:ext cx="365760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1488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Salaries (3 co-founders + hires)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834640" y="21488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78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€238,000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74904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79%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" y="2743200"/>
            <a:ext cx="365760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743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Infrastructure &amp; Cloud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834640" y="27432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78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€39,000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74904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13%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40080" y="3337560"/>
            <a:ext cx="365760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3375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Marketing &amp; Sales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834640" y="33375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78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€27,000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74904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9%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4632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Milestones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29200" y="1691640"/>
            <a:ext cx="228600" cy="228600"/>
          </a:xfrm>
          <a:prstGeom prst="ellipse">
            <a:avLst/>
          </a:prstGeom>
          <a:solidFill>
            <a:srgbClr val="E78A53"/>
          </a:solidFill>
          <a:ln/>
        </p:spPr>
      </p:sp>
      <p:sp>
        <p:nvSpPr>
          <p:cNvPr id="23" name="Shape 21"/>
          <p:cNvSpPr/>
          <p:nvPr/>
        </p:nvSpPr>
        <p:spPr>
          <a:xfrm>
            <a:off x="5129784" y="1920240"/>
            <a:ext cx="27432" cy="64008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0" y="15544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8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2026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0" y="18745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Beta test · First 15 paying clients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0" y="2697480"/>
            <a:ext cx="228600" cy="2286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7" name="Shape 25"/>
          <p:cNvSpPr/>
          <p:nvPr/>
        </p:nvSpPr>
        <p:spPr>
          <a:xfrm>
            <a:off x="5129784" y="2926080"/>
            <a:ext cx="27432" cy="64008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0" y="2560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2026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0" y="28803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50 clients · Expand to Benin &amp; Ivory Coast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029200" y="3703320"/>
            <a:ext cx="228600" cy="2286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0" y="3566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486400" y="38862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100+ clients · 3 countries · Full ERP integration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78A53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0" y="457200"/>
            <a:ext cx="274320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463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the African accounting revolution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3840480" y="2194560"/>
            <a:ext cx="1463040" cy="36576"/>
          </a:xfrm>
          <a:prstGeom prst="rect">
            <a:avLst/>
          </a:prstGeom>
          <a:solidFill>
            <a:srgbClr val="E78A53"/>
          </a:solidFill>
          <a:ln/>
        </p:spPr>
      </p:sp>
      <p:sp>
        <p:nvSpPr>
          <p:cNvPr id="6" name="Shape 3"/>
          <p:cNvSpPr/>
          <p:nvPr/>
        </p:nvSpPr>
        <p:spPr>
          <a:xfrm>
            <a:off x="2286000" y="2560320"/>
            <a:ext cx="4572000" cy="548640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8880" y="265176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017520" y="25603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contact@korametrics.com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2286000" y="3291840"/>
            <a:ext cx="4572000" cy="548640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68880" y="3383280"/>
            <a:ext cx="365760" cy="365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017520" y="32918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+221 77 182 39 26 (Sédar)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+221 78 137 91 90 (Medoune)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2286000" y="4023360"/>
            <a:ext cx="4572000" cy="548640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68880" y="4114800"/>
            <a:ext cx="365760" cy="3657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017520" y="40233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www.korametrics.com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640080" y="45720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GITEX AFRICA 2026 · Marrakech · April 7-9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652</Words>
  <Application>Microsoft Macintosh PowerPoint</Application>
  <PresentationFormat>On-screen Show (16:9)</PresentationFormat>
  <Paragraphs>203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Kora Metrics - Pitch Deck GITEX Africa 2026</dc:title>
  <dc:subject>PptxGenJS Presentation</dc:subject>
  <dc:creator>Kora Metrics</dc:creator>
  <cp:lastModifiedBy>Sedar Henri SENGHOR [IPD DFC]</cp:lastModifiedBy>
  <cp:revision>2</cp:revision>
  <dcterms:created xsi:type="dcterms:W3CDTF">2026-04-02T16:18:40Z</dcterms:created>
  <dcterms:modified xsi:type="dcterms:W3CDTF">2026-04-02T16:59:51Z</dcterms:modified>
</cp:coreProperties>
</file>